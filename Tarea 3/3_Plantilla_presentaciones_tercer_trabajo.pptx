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1" r:id="rId9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223A5-2BD4-C023-27EB-2C375724BC03}" v="780" dt="2025-11-28T03:33:03.695"/>
    <p1510:client id="{EF52BCC2-FA1D-C0C4-6FD8-5B21AC7F0B14}" v="13" dt="2025-11-28T02:46:42.579"/>
    <p1510:client id="{F0024F99-5FAA-3C37-2132-10B26A7A636F}" v="155" dt="2025-11-28T03:46:46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192fbe5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4192fbe5a8_0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4192fbe5a8_0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6178b480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6178b48060_0_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6178b48060_0_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539552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2"/>
          <p:cNvCxnSpPr/>
          <p:nvPr/>
        </p:nvCxnSpPr>
        <p:spPr>
          <a:xfrm>
            <a:off x="539552" y="980728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9" name="Google Shape;29;p3"/>
          <p:cNvCxnSpPr/>
          <p:nvPr/>
        </p:nvCxnSpPr>
        <p:spPr>
          <a:xfrm>
            <a:off x="467544" y="1484784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3"/>
          <p:cNvCxnSpPr/>
          <p:nvPr/>
        </p:nvCxnSpPr>
        <p:spPr>
          <a:xfrm>
            <a:off x="467544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einer.martinez1@udea.edu.c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yder.marcillo@udea.edu.co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getaccess/pii/S0950705121009096/purcha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ctrTitle"/>
          </p:nvPr>
        </p:nvSpPr>
        <p:spPr>
          <a:xfrm>
            <a:off x="645840" y="98072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O" sz="4000"/>
              <a:t>Conteo y clasificación de Hortensias 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"/>
          </p:nvPr>
        </p:nvSpPr>
        <p:spPr>
          <a:xfrm>
            <a:off x="971600" y="2276872"/>
            <a:ext cx="730485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 lang="es-CO" sz="215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UNIVERSIDAD DE ANTIOQUIA</a:t>
            </a:r>
            <a:endParaRPr lang="es-CO" sz="215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Departamento de Electrónica y Telecomunicaciones</a:t>
            </a:r>
          </a:p>
          <a:p>
            <a:pPr>
              <a:lnSpc>
                <a:spcPct val="80000"/>
              </a:lnSpc>
              <a:spcBef>
                <a:spcPts val="434"/>
              </a:spcBef>
              <a:buSzPts val="2170"/>
            </a:pPr>
            <a:r>
              <a:rPr lang="es-CO" sz="2150" b="1">
                <a:solidFill>
                  <a:srgbClr val="0000FF"/>
                </a:solidFill>
              </a:rPr>
              <a:t>Tercer Trabajo PDI I</a:t>
            </a:r>
            <a:endParaRPr sz="2170" b="1">
              <a:solidFill>
                <a:srgbClr val="0000FF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Semestre </a:t>
            </a:r>
            <a:r>
              <a:rPr lang="es-CO" sz="2150"/>
              <a:t>2025-2</a:t>
            </a:r>
            <a:endParaRPr sz="217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888888"/>
              </a:buClr>
              <a:buSzPts val="2480"/>
              <a:buFont typeface="Arial"/>
              <a:buNone/>
            </a:pPr>
            <a:endParaRPr sz="248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331640" y="462872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CO" sz="2400" err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Leyder</a:t>
            </a:r>
            <a:r>
              <a:rPr lang="es-CO"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Marcillo</a:t>
            </a:r>
            <a:endParaRPr lang="es-CO">
              <a:sym typeface="Calibri"/>
            </a:endParaRPr>
          </a:p>
          <a:p>
            <a:pPr algn="ctr"/>
            <a:r>
              <a:rPr lang="es-CO"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Yeiner Martínez</a:t>
            </a:r>
            <a:endParaRPr lang="es-CO">
              <a:sym typeface="Calibri"/>
            </a:endParaRPr>
          </a:p>
          <a:p>
            <a:pPr algn="ctr"/>
            <a:r>
              <a:rPr lang="es-CO"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Yeiner.martinez1@udea.edu.co</a:t>
            </a:r>
            <a:endParaRPr lang="es-CO">
              <a:sym typeface="Calibri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Leyder.marcillo@udea.edu.co</a:t>
            </a:r>
            <a:endParaRPr lang="es-CO"/>
          </a:p>
          <a:p>
            <a:pPr marL="0" marR="0" lvl="0" indent="0" algn="ctr">
              <a:lnSpc>
                <a:spcPct val="100000"/>
              </a:lnSpc>
              <a:spcAft>
                <a:spcPts val="0"/>
              </a:spcAft>
              <a:buSzPts val="2400"/>
              <a:buFont typeface="Arial"/>
              <a:buNone/>
            </a:pPr>
            <a:endParaRPr lang="es-CO" sz="2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Problema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79395" y="2060848"/>
            <a:ext cx="729000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>
                <a:solidFill>
                  <a:schemeClr val="dk1"/>
                </a:solidFill>
                <a:ea typeface="Calibri"/>
                <a:sym typeface="Calibri"/>
              </a:rPr>
              <a:t>El conteo manual de hortensias en cultivos requiere mucho tiempo y esfuerzo, lo que genera errores humanos y dificulta la gestión precisa </a:t>
            </a:r>
            <a:r>
              <a:rPr lang="es-CO" b="0" i="0" u="none" strike="noStrike" cap="none">
                <a:solidFill>
                  <a:schemeClr val="dk1"/>
                </a:solidFill>
                <a:ea typeface="Calibri"/>
                <a:sym typeface="Calibri"/>
              </a:rPr>
              <a:t>de </a:t>
            </a:r>
            <a:r>
              <a:rPr lang="es-CO">
                <a:solidFill>
                  <a:schemeClr val="dk1"/>
                </a:solidFill>
                <a:ea typeface="Calibri"/>
                <a:sym typeface="Calibri"/>
              </a:rPr>
              <a:t>la producción.</a:t>
            </a:r>
            <a:endParaRPr lang="en-US">
              <a:solidFill>
                <a:schemeClr val="dk1"/>
              </a:solidFill>
            </a:endParaRPr>
          </a:p>
          <a:p>
            <a:pPr marL="285750" marR="0" lvl="0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s-CO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>
                <a:solidFill>
                  <a:schemeClr val="dk1"/>
                </a:solidFill>
                <a:ea typeface="Calibri"/>
                <a:sym typeface="Calibri"/>
              </a:rPr>
              <a:t>Se necesita un sistema automatizado de visión artificial que detecte, clasifique y cuente  hortensias a partir </a:t>
            </a:r>
            <a:r>
              <a:rPr lang="es-CO" b="0" i="0" u="none" strike="noStrike" cap="none">
                <a:solidFill>
                  <a:schemeClr val="dk1"/>
                </a:solidFill>
                <a:ea typeface="Calibri"/>
                <a:sym typeface="Calibri"/>
              </a:rPr>
              <a:t>de </a:t>
            </a:r>
            <a:r>
              <a:rPr lang="es-CO">
                <a:solidFill>
                  <a:schemeClr val="dk1"/>
                </a:solidFill>
                <a:ea typeface="Calibri"/>
                <a:sym typeface="Calibri"/>
              </a:rPr>
              <a:t>videos capturados con un celular, diferenciando por color y tamaño.</a:t>
            </a:r>
            <a:endParaRPr lang="es-CO">
              <a:solidFill>
                <a:schemeClr val="dk1"/>
              </a:solidFill>
              <a:ea typeface="Calibri"/>
            </a:endParaRPr>
          </a:p>
          <a:p>
            <a: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s-CO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Antecedentes:</a:t>
            </a:r>
            <a:endParaRPr>
              <a:solidFill>
                <a:schemeClr val="dk1"/>
              </a:solidFill>
            </a:endParaRPr>
          </a:p>
          <a:p>
            <a:pPr marL="457200" lvl="1">
              <a:buClr>
                <a:schemeClr val="dk1"/>
              </a:buClr>
              <a:buSzPts val="1800"/>
            </a:pPr>
            <a:r>
              <a:rPr lang="es-CO" sz="1800">
                <a:solidFill>
                  <a:schemeClr val="dk1"/>
                </a:solidFill>
                <a:ea typeface="Calibri"/>
                <a:sym typeface="Calibri"/>
              </a:rPr>
              <a:t>➢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r>
              <a:rPr lang="es-CO">
                <a:solidFill>
                  <a:schemeClr val="dk1"/>
                </a:solidFill>
                <a:ea typeface="Calibri"/>
                <a:sym typeface="Calibri"/>
              </a:rPr>
              <a:t>Reconocimiento de frutas defectuosas</a:t>
            </a:r>
            <a:endParaRPr lang="es-CO">
              <a:solidFill>
                <a:schemeClr val="dk1"/>
              </a:solidFill>
              <a:ea typeface="Calibri"/>
            </a:endParaRPr>
          </a:p>
          <a:p>
            <a:pPr marL="457200" lvl="3">
              <a:buClr>
                <a:schemeClr val="dk1"/>
              </a:buClr>
              <a:buSzPts val="1800"/>
            </a:pPr>
            <a:r>
              <a:rPr lang="es-CO" sz="1800">
                <a:solidFill>
                  <a:schemeClr val="dk1"/>
                </a:solidFill>
                <a:ea typeface="Calibri"/>
                <a:sym typeface="Calibri"/>
              </a:rPr>
              <a:t>➢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r>
              <a:rPr lang="es-CO">
                <a:solidFill>
                  <a:schemeClr val="dk1"/>
                </a:solidFill>
                <a:ea typeface="Calibri"/>
                <a:sym typeface="Calibri"/>
              </a:rPr>
              <a:t>Uso de segmentación por color para conteo de flores en invernaderos</a:t>
            </a:r>
            <a:endParaRPr>
              <a:solidFill>
                <a:schemeClr val="dk1"/>
              </a:solidFill>
            </a:endParaRPr>
          </a:p>
          <a:p>
            <a:pPr marL="457200" lvl="3">
              <a:buClr>
                <a:schemeClr val="dk1"/>
              </a:buClr>
              <a:buSzPts val="1800"/>
            </a:pPr>
            <a:r>
              <a:rPr lang="es-CO" sz="1800">
                <a:solidFill>
                  <a:schemeClr val="dk1"/>
                </a:solidFill>
                <a:ea typeface="Calibri"/>
                <a:sym typeface="Calibri"/>
              </a:rPr>
              <a:t>➢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r>
              <a:rPr lang="es-CO">
                <a:solidFill>
                  <a:schemeClr val="dk1"/>
                </a:solidFill>
                <a:ea typeface="Calibri"/>
                <a:sym typeface="Calibri"/>
              </a:rPr>
              <a:t>Identificador tipo de flores</a:t>
            </a:r>
            <a:endParaRPr>
              <a:solidFill>
                <a:schemeClr val="dk1"/>
              </a:solidFill>
            </a:endParaRPr>
          </a:p>
          <a:p>
            <a:pPr marL="1200150" marR="0" lvl="2" indent="-2857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endParaRPr lang="es-CO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Montaje realizado en</a:t>
            </a: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42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043608" y="1747120"/>
            <a:ext cx="74169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Trípode de mano.</a:t>
            </a:r>
          </a:p>
          <a:p>
            <a:pPr marL="285750" indent="-285750"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Cámara de celular.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US" sz="1800" u="sng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2C80AC-EB71-6983-ECDB-E146481C3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64" y="2936575"/>
            <a:ext cx="2768002" cy="25951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A3F7CA-C02B-34A1-3BAF-D97D86FDC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111" y="2520890"/>
            <a:ext cx="1732293" cy="18138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8B14E9-481D-76EF-77FD-632169D02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313" y="4233863"/>
            <a:ext cx="2085975" cy="1419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4290"/>
            </a:pPr>
            <a:r>
              <a:rPr lang="es-CO" sz="425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PROPUESTA DE SOLUCION</a:t>
            </a:r>
            <a:endParaRPr lang="es-CO" sz="4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3388091" y="3218927"/>
            <a:ext cx="3347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 descr="Planta con flores amarillas&#10;&#10;El contenido generado por IA puede ser incorrecto.">
            <a:extLst>
              <a:ext uri="{FF2B5EF4-FFF2-40B4-BE49-F238E27FC236}">
                <a16:creationId xmlns:a16="http://schemas.microsoft.com/office/drawing/2014/main" id="{1021ABF4-B4E4-4E67-7BB6-C5C0F273A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6" y="1568174"/>
            <a:ext cx="1578038" cy="24958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326A806-07A8-1E75-4209-D190F17F2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322" y="4207564"/>
            <a:ext cx="1145967" cy="1976784"/>
          </a:xfrm>
          <a:prstGeom prst="rect">
            <a:avLst/>
          </a:prstGeom>
        </p:spPr>
      </p:pic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FEC325C-DCCB-D1B0-6FBA-18215630E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182" y="1645478"/>
            <a:ext cx="1477724" cy="2341218"/>
          </a:xfrm>
          <a:prstGeom prst="rect">
            <a:avLst/>
          </a:prstGeom>
        </p:spPr>
      </p:pic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E49EA1A4-734F-23C0-6A0F-866C6C6B24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4396" y="1711739"/>
            <a:ext cx="3467470" cy="4384262"/>
          </a:xfrm>
          <a:prstGeom prst="rect">
            <a:avLst/>
          </a:prstGeom>
        </p:spPr>
      </p:pic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9959491-551C-BA88-8033-625A3ACC4ABF}"/>
              </a:ext>
            </a:extLst>
          </p:cNvPr>
          <p:cNvSpPr/>
          <p:nvPr/>
        </p:nvSpPr>
        <p:spPr>
          <a:xfrm>
            <a:off x="1917660" y="1864759"/>
            <a:ext cx="608361" cy="3306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1C171C3D-8014-D40A-14D2-13139C21FF25}"/>
              </a:ext>
            </a:extLst>
          </p:cNvPr>
          <p:cNvSpPr/>
          <p:nvPr/>
        </p:nvSpPr>
        <p:spPr>
          <a:xfrm>
            <a:off x="6480371" y="2618598"/>
            <a:ext cx="436433" cy="25127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C22B387F-488F-1504-415A-45C7DCF6F6A5}"/>
              </a:ext>
            </a:extLst>
          </p:cNvPr>
          <p:cNvSpPr/>
          <p:nvPr/>
        </p:nvSpPr>
        <p:spPr>
          <a:xfrm>
            <a:off x="6308443" y="5435576"/>
            <a:ext cx="317405" cy="2512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Montaje en funcionamiento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61657-3F2A-8284-802F-5E2AA71F8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529" y="2221121"/>
            <a:ext cx="1953165" cy="3304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D7CDA2-6D27-10BF-4BAC-818B5B2BF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04" y="2219864"/>
            <a:ext cx="1829409" cy="33067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5A7025-5917-709E-9AE9-43C690D6C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246" y="2213715"/>
            <a:ext cx="2439510" cy="3307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0BA3-8736-F8BB-B406-6C743100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CO"/>
            </a:br>
            <a:r>
              <a:rPr lang="es-CO"/>
              <a:t>Montaje en funcionamiento</a:t>
            </a:r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85E79-6749-743E-012C-80928EFA5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502" y="3137396"/>
            <a:ext cx="1743075" cy="2981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8DDAF6-B20B-7A53-92A3-2358BA308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45" y="1629206"/>
            <a:ext cx="2809875" cy="2381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01863C-147D-08AB-04B7-6821448DC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014" y="1624691"/>
            <a:ext cx="261937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9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Resultados, Líneas Futuras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827584" y="1670443"/>
            <a:ext cx="77083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 programa tiene un porcentaje de aciertos del 87% en </a:t>
            </a:r>
            <a:r>
              <a:rPr lang="es-CO" sz="180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frames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</a:t>
            </a: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 mayor porcentaje de error se encuentra detectando "botones" y clasificando hortensias con difuminación de color blanco.</a:t>
            </a:r>
          </a:p>
          <a:p>
            <a:pPr marL="285750" indent="-171450">
              <a:buClr>
                <a:schemeClr val="dk1"/>
              </a:buClr>
              <a:buSzPts val="1800"/>
            </a:pPr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829866" y="3081511"/>
            <a:ext cx="652340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Líneas futuras: </a:t>
            </a:r>
            <a:endParaRPr lang="es-CO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el </a:t>
            </a:r>
            <a:r>
              <a:rPr lang="es-CO" sz="180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el conteo de "botones"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0150" lvl="2" indent="-285750"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Estimación de tamaño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webgrafía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23F68-26B4-1A0C-0AD0-1192E79E2E75}"/>
              </a:ext>
            </a:extLst>
          </p:cNvPr>
          <p:cNvSpPr txBox="1"/>
          <p:nvPr/>
        </p:nvSpPr>
        <p:spPr>
          <a:xfrm>
            <a:off x="867416" y="1522494"/>
            <a:ext cx="740013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464" indent="-283464" algn="l" rtl="0">
              <a:buFont typeface="Arial"/>
              <a:buChar char="•"/>
            </a:pPr>
            <a:r>
              <a:rPr lang="es-CO" sz="1400" b="0" i="0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Zheng, Y., Zhang, T., &amp; Fu, Y. (2022). A large-scale hyperspectral dataset for flower classification. </a:t>
            </a:r>
            <a:r>
              <a:rPr lang="es-CO" sz="1400" b="0" i="1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Knowledge-Based Systems, 236</a:t>
            </a:r>
            <a:r>
              <a:rPr lang="es-CO" sz="1400" b="0" i="0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107647. </a:t>
            </a:r>
            <a:r>
              <a:rPr lang="en-US" sz="1400" b="0" i="0" spc="0" baseline="0">
                <a:solidFill>
                  <a:srgbClr val="000000"/>
                </a:solidFill>
                <a:latin typeface="Arial"/>
                <a:ea typeface="Arial"/>
                <a:cs typeface="Arial"/>
                <a:hlinkClick r:id="rId3"/>
              </a:rPr>
              <a:t>Purchase A large-scale hyperspectral dataset for flower classification | ScienceDirect</a:t>
            </a:r>
          </a:p>
          <a:p>
            <a:pPr marL="283464" indent="-283464" algn="l" rtl="0"/>
            <a:endParaRPr lang="es-CO"/>
          </a:p>
          <a:p>
            <a:pPr marL="283464" indent="-283464" algn="l" rtl="0">
              <a:buFont typeface="Arial"/>
              <a:buChar char="•"/>
            </a:pPr>
            <a:r>
              <a:rPr lang="en-US" sz="1400" b="0" i="0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Sundar, V. S., &amp; Bagyamani, J. (2015). </a:t>
            </a:r>
            <a:r>
              <a:rPr lang="en-US" sz="1400" b="0" i="1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Flower counting in yield approximation using digital image processing techniques</a:t>
            </a:r>
            <a:r>
              <a:rPr lang="en-US" sz="1400" b="0" i="0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1400" b="0" i="1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International Journal of Advance Research in Science and Engineering</a:t>
            </a:r>
            <a:r>
              <a:rPr lang="en-US" sz="1400" b="0" i="0" spc="0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4(Special Issue 03), 97–102. https://ijarse.com/images/fullpdf/1427713455_11_research_paper.pdf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(4:3)</PresentationFormat>
  <Slides>8</Slides>
  <Notes>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Conteo y clasificación de Hortensias </vt:lpstr>
      <vt:lpstr>Presentación de PowerPoint</vt:lpstr>
      <vt:lpstr>Presentación de PowerPoint</vt:lpstr>
      <vt:lpstr>Presentación de PowerPoint</vt:lpstr>
      <vt:lpstr>Montaje en funcionamiento</vt:lpstr>
      <vt:lpstr> Montaje en funcionamiento </vt:lpstr>
      <vt:lpstr>Presentación de PowerPoint</vt:lpstr>
      <vt:lpstr>Bibliografía y webgrafía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</cp:revision>
  <dcterms:modified xsi:type="dcterms:W3CDTF">2025-11-28T03:54:40Z</dcterms:modified>
</cp:coreProperties>
</file>